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embedTrueTypeFonts="1" saveSubsetFonts="1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y="6858000" cx="12191695"/>
  <p:notesSz cx="6858000" cy="12191695"/>
  <p:embeddedFontLst>
    <p:embeddedFont>
      <p:font typeface="Krona One"/>
      <p:regular r:id="rId12"/>
    </p:embeddedFont>
    <p:embeddedFont>
      <p:font typeface="Lexend"/>
      <p:regular r:id="rId13"/>
    </p:embeddedFont>
    <p:embeddedFont>
      <p:font typeface="Lexend Medium"/>
      <p:regular r:id="rId14"/>
    </p:embeddedFont>
    <p:embeddedFont>
      <p:font typeface="Lexend Bold"/>
      <p:regular r:id="rId15"/>
    </p:embeddedFont>
    <p:embeddedFont>
      <p:font typeface="Martian Mono Medium"/>
      <p:regular r:id="rId16"/>
    </p:embeddedFont>
  </p:embeddedFontLst>
  <p:defaultTextStyle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tableStyles" Target="tableStyles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2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5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696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048697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en-US"/>
          </a:p>
        </p:txBody>
      </p:sp>
      <p:sp>
        <p:nvSpPr>
          <p:cNvPr id="1048698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bIns="45720" lIns="91440" rIns="91440" rtlCol="0" tIns="45720" vert="horz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99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700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58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58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59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59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1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1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2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2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4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4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5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6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7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7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8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8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9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9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Relationship Id="rId5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5154C"/>
        </a:solidFill>
      </p:bgPr>
    </p:bg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/>
        </p:spPr>
      </p:pic>
      <p:pic>
        <p:nvPicPr>
          <p:cNvPr id="2097153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/>
        </p:spPr>
      </p:pic>
      <p:pic>
        <p:nvPicPr>
          <p:cNvPr id="2097154" name="Image 2" descr="preencoded.png">
            <a:hlinkClick r:id="rId3" tooltip=""/>
          </p:cNvPr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/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5154C"/>
        </a:solidFill>
      </p:bgPr>
    </p:bg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5" name="Image 0" descr="preencoded.png">
            <a:hlinkClick r:id="rId1" tooltip=""/>
          </p:cNvPr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/>
        </p:spPr>
      </p:pic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ext 0"/>
          <p:cNvSpPr/>
          <p:nvPr/>
        </p:nvSpPr>
        <p:spPr>
          <a:xfrm>
            <a:off x="787380" y="1337945"/>
            <a:ext cx="6426039" cy="198041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0000"/>
              </a:lnSpc>
              <a:buNone/>
            </a:pPr>
            <a:r>
              <a:rPr dirty="0" sz="1300" kern="100" lang="en-US" spc="78">
                <a:solidFill>
                  <a:srgbClr val="FFFF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DESIGN AND ANALYSIS OF ALGORITHMS</a:t>
            </a:r>
            <a:endParaRPr dirty="0" sz="1300" lang="en-US"/>
          </a:p>
        </p:txBody>
      </p:sp>
      <p:sp>
        <p:nvSpPr>
          <p:cNvPr id="1048577" name="Text 1"/>
          <p:cNvSpPr/>
          <p:nvPr/>
        </p:nvSpPr>
        <p:spPr>
          <a:xfrm>
            <a:off x="787380" y="1687181"/>
            <a:ext cx="5816454" cy="2523728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90000"/>
              </a:lnSpc>
              <a:buNone/>
            </a:pPr>
            <a:r>
              <a:rPr dirty="0" sz="4600" kern="100" lang="en-US" spc="-46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Dijkstra's Algorithm:</a:t>
            </a:r>
            <a:endParaRPr dirty="0" sz="4600" lang="en-US"/>
          </a:p>
          <a:p>
            <a:pPr algn="l" indent="0" marL="0">
              <a:lnSpc>
                <a:spcPct val="90000"/>
              </a:lnSpc>
              <a:buNone/>
            </a:pPr>
            <a:r>
              <a:rPr dirty="0" sz="4600" kern="100" lang="en-US" spc="-46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Shortest Path in a Graph</a:t>
            </a:r>
            <a:endParaRPr dirty="0" sz="4600" lang="en-US"/>
          </a:p>
        </p:txBody>
      </p:sp>
      <p:sp>
        <p:nvSpPr>
          <p:cNvPr id="1048578" name="Text 2"/>
          <p:cNvSpPr/>
          <p:nvPr/>
        </p:nvSpPr>
        <p:spPr>
          <a:xfrm>
            <a:off x="787380" y="4479449"/>
            <a:ext cx="5816454" cy="822920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13000"/>
              </a:lnSpc>
              <a:buNone/>
            </a:pPr>
            <a:r>
              <a:rPr dirty="0" sz="2400" lang="en-US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How a greedy choice finds the best known route, one node at a time.</a:t>
            </a:r>
            <a:endParaRPr dirty="0" sz="2400" lang="en-US"/>
          </a:p>
        </p:txBody>
      </p:sp>
      <p:sp>
        <p:nvSpPr>
          <p:cNvPr id="1048579" name="Text 3"/>
          <p:cNvSpPr/>
          <p:nvPr/>
        </p:nvSpPr>
        <p:spPr>
          <a:xfrm>
            <a:off x="787380" y="5604629"/>
            <a:ext cx="6426039" cy="23108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8000"/>
              </a:lnSpc>
              <a:buNone/>
            </a:pPr>
            <a:r>
              <a:rPr dirty="0" sz="1400" kern="100" lang="en-US" spc="14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Generated using [Gamma]</a:t>
            </a:r>
            <a:endParaRPr dirty="0" sz="1400"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3" name="Text 0"/>
          <p:cNvSpPr/>
          <p:nvPr/>
        </p:nvSpPr>
        <p:spPr>
          <a:xfrm>
            <a:off x="609585" y="626745"/>
            <a:ext cx="11582110" cy="198041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0000"/>
              </a:lnSpc>
              <a:buNone/>
            </a:pPr>
            <a:r>
              <a:rPr dirty="0" sz="1300" kern="100" lang="en-US" spc="78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THE CORE QUESTION</a:t>
            </a:r>
            <a:endParaRPr dirty="0" sz="1300" lang="en-US"/>
          </a:p>
        </p:txBody>
      </p:sp>
      <p:sp>
        <p:nvSpPr>
          <p:cNvPr id="1048584" name="Text 1"/>
          <p:cNvSpPr/>
          <p:nvPr/>
        </p:nvSpPr>
        <p:spPr>
          <a:xfrm>
            <a:off x="609585" y="946375"/>
            <a:ext cx="10972526" cy="40888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96000"/>
              </a:lnSpc>
              <a:buNone/>
            </a:pPr>
            <a:r>
              <a:rPr dirty="0" sz="2800" kern="100" lang="en-US" spc="-14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What is Dijkstra's Algorithm?</a:t>
            </a:r>
            <a:endParaRPr dirty="0" sz="2800" lang="en-US"/>
          </a:p>
        </p:txBody>
      </p:sp>
      <p:sp>
        <p:nvSpPr>
          <p:cNvPr id="1048585" name="Text 2"/>
          <p:cNvSpPr/>
          <p:nvPr/>
        </p:nvSpPr>
        <p:spPr>
          <a:xfrm>
            <a:off x="609585" y="1653401"/>
            <a:ext cx="5333867" cy="1645841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13000"/>
              </a:lnSpc>
              <a:buNone/>
            </a:pPr>
            <a:r>
              <a:rPr dirty="0" sz="2400" lang="en-US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Finds the shortest path from one source node to every other node in a weighted graph with non-negative edge weights.</a:t>
            </a:r>
            <a:endParaRPr dirty="0" sz="2400" lang="en-US"/>
          </a:p>
        </p:txBody>
      </p:sp>
      <p:sp>
        <p:nvSpPr>
          <p:cNvPr id="1048586" name="Shape 3"/>
          <p:cNvSpPr/>
          <p:nvPr/>
        </p:nvSpPr>
        <p:spPr>
          <a:xfrm>
            <a:off x="609585" y="3465612"/>
            <a:ext cx="5333867" cy="2049661"/>
          </a:xfrm>
          <a:prstGeom prst="rect"/>
          <a:solidFill>
            <a:srgbClr val="1E1F66"/>
          </a:solidFill>
        </p:spPr>
      </p:sp>
      <p:sp>
        <p:nvSpPr>
          <p:cNvPr id="1048587" name="Text 4"/>
          <p:cNvSpPr/>
          <p:nvPr/>
        </p:nvSpPr>
        <p:spPr>
          <a:xfrm>
            <a:off x="838179" y="3677702"/>
            <a:ext cx="5105272" cy="23108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8000"/>
              </a:lnSpc>
              <a:buNone/>
            </a:pPr>
            <a:r>
              <a:rPr dirty="0" sz="1400" kern="100" lang="en-US" spc="14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GPS analogy</a:t>
            </a:r>
            <a:endParaRPr dirty="0" sz="1400" lang="en-US"/>
          </a:p>
        </p:txBody>
      </p:sp>
      <p:sp>
        <p:nvSpPr>
          <p:cNvPr id="1048588" name="Text 5"/>
          <p:cNvSpPr/>
          <p:nvPr/>
        </p:nvSpPr>
        <p:spPr>
          <a:xfrm>
            <a:off x="838179" y="4089122"/>
            <a:ext cx="4876678" cy="1234380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13000"/>
              </a:lnSpc>
              <a:buNone/>
            </a:pPr>
            <a:r>
              <a:rPr dirty="0" sz="2400" lang="en-US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Like finding the quickest route from your home to every other place in the city.</a:t>
            </a:r>
            <a:endParaRPr dirty="0" sz="2400" lang="en-US"/>
          </a:p>
        </p:txBody>
      </p:sp>
      <p:sp>
        <p:nvSpPr>
          <p:cNvPr id="1048589" name="Diagram caption"/>
          <p:cNvSpPr txBox="1"/>
          <p:nvPr/>
        </p:nvSpPr>
        <p:spPr>
          <a:xfrm>
            <a:off x="6248244" y="1950000"/>
            <a:ext cx="5333867" cy="300000"/>
          </a:xfrm>
          <a:prstGeom prst="rect"/>
          <a:noFill/>
        </p:spPr>
        <p:txBody>
          <a:bodyPr anchor="t" bIns="0" lIns="0" rIns="0" tIns="0" wrap="square"/>
          <a:p>
            <a:pPr algn="l"/>
            <a:r>
              <a:rPr dirty="0" sz="1400" lang="en-US">
                <a:solidFill>
                  <a:srgbClr val="E6E9FF"/>
                </a:solidFill>
                <a:latin typeface="Lexend"/>
                <a:ea typeface="Lexend"/>
                <a:cs typeface="Lexend"/>
              </a:rPr>
              <a:t>Finds shortest path to every destination</a:t>
            </a:r>
          </a:p>
        </p:txBody>
      </p:sp>
      <p:cxnSp>
        <p:nvCxnSpPr>
          <p:cNvPr id="3145728" name="Line to Park"/>
          <p:cNvCxnSpPr>
            <a:cxnSpLocks/>
          </p:cNvCxnSpPr>
          <p:nvPr/>
        </p:nvCxnSpPr>
        <p:spPr>
          <a:xfrm flipV="1">
            <a:off x="7248244" y="2802136"/>
            <a:ext cx="2251756" cy="1143000"/>
          </a:xfrm>
          <a:prstGeom prst="line"/>
          <a:ln w="28575">
            <a:solidFill>
              <a:srgbClr val="7C83FF"/>
            </a:solidFill>
            <a:tailEnd type="triangle"/>
          </a:ln>
        </p:spPr>
      </p:cxnSp>
      <p:cxnSp>
        <p:nvCxnSpPr>
          <p:cNvPr id="3145729" name="Line to Campus"/>
          <p:cNvCxnSpPr>
            <a:cxnSpLocks/>
          </p:cNvCxnSpPr>
          <p:nvPr/>
        </p:nvCxnSpPr>
        <p:spPr>
          <a:xfrm flipV="1">
            <a:off x="7248244" y="3564136"/>
            <a:ext cx="2251756" cy="381000"/>
          </a:xfrm>
          <a:prstGeom prst="line"/>
          <a:ln w="28575">
            <a:solidFill>
              <a:srgbClr val="7C83FF"/>
            </a:solidFill>
            <a:tailEnd type="triangle"/>
          </a:ln>
        </p:spPr>
      </p:cxnSp>
      <p:cxnSp>
        <p:nvCxnSpPr>
          <p:cNvPr id="3145730" name="Line to Station"/>
          <p:cNvCxnSpPr>
            <a:cxnSpLocks/>
          </p:cNvCxnSpPr>
          <p:nvPr/>
        </p:nvCxnSpPr>
        <p:spPr>
          <a:xfrm>
            <a:off x="7248244" y="3945136"/>
            <a:ext cx="2251756" cy="381000"/>
          </a:xfrm>
          <a:prstGeom prst="line"/>
          <a:ln w="28575">
            <a:solidFill>
              <a:srgbClr val="7C83FF"/>
            </a:solidFill>
            <a:tailEnd type="triangle"/>
          </a:ln>
        </p:spPr>
      </p:cxnSp>
      <p:cxnSp>
        <p:nvCxnSpPr>
          <p:cNvPr id="3145731" name="Line to Market"/>
          <p:cNvCxnSpPr>
            <a:cxnSpLocks/>
          </p:cNvCxnSpPr>
          <p:nvPr/>
        </p:nvCxnSpPr>
        <p:spPr>
          <a:xfrm>
            <a:off x="7248244" y="3945136"/>
            <a:ext cx="2251756" cy="1143000"/>
          </a:xfrm>
          <a:prstGeom prst="line"/>
          <a:ln w="28575">
            <a:solidFill>
              <a:srgbClr val="7C83FF"/>
            </a:solidFill>
            <a:tailEnd type="triangle"/>
          </a:ln>
        </p:spPr>
      </p:cxnSp>
      <p:sp>
        <p:nvSpPr>
          <p:cNvPr id="1048590" name="Place Park"/>
          <p:cNvSpPr/>
          <p:nvPr/>
        </p:nvSpPr>
        <p:spPr>
          <a:xfrm>
            <a:off x="9500000" y="2522136"/>
            <a:ext cx="2082111" cy="560000"/>
          </a:xfrm>
          <a:prstGeom prst="roundRect"/>
          <a:solidFill>
            <a:srgbClr val="1E1F66"/>
          </a:solidFill>
          <a:ln w="19050">
            <a:solidFill>
              <a:srgbClr val="7C83FF"/>
            </a:solidFill>
          </a:ln>
        </p:spPr>
        <p:txBody>
          <a:bodyPr anchor="ctr" bIns="0" lIns="91440" rIns="91440" tIns="0" wrap="square">
            <a:normAutofit/>
          </a:bodyPr>
          <a:p>
            <a:pPr algn="ctr"/>
            <a:r>
              <a:rPr dirty="0" sz="1600" lang="en-US">
                <a:solidFill>
                  <a:srgbClr val="E6E9FF"/>
                </a:solidFill>
                <a:latin typeface="Lexend"/>
                <a:ea typeface="Lexend"/>
                <a:cs typeface="Lexend"/>
              </a:rPr>
              <a:t>Park · 3 km</a:t>
            </a:r>
          </a:p>
        </p:txBody>
      </p:sp>
      <p:sp>
        <p:nvSpPr>
          <p:cNvPr id="1048591" name="Place Campus"/>
          <p:cNvSpPr/>
          <p:nvPr/>
        </p:nvSpPr>
        <p:spPr>
          <a:xfrm>
            <a:off x="9500000" y="3284136"/>
            <a:ext cx="2082111" cy="560000"/>
          </a:xfrm>
          <a:prstGeom prst="roundRect"/>
          <a:solidFill>
            <a:srgbClr val="1E1F66"/>
          </a:solidFill>
          <a:ln w="19050">
            <a:solidFill>
              <a:srgbClr val="7C83FF"/>
            </a:solidFill>
          </a:ln>
        </p:spPr>
        <p:txBody>
          <a:bodyPr anchor="ctr" bIns="0" lIns="91440" rIns="91440" tIns="0" wrap="square">
            <a:normAutofit/>
          </a:bodyPr>
          <a:p>
            <a:pPr algn="ctr"/>
            <a:r>
              <a:rPr dirty="0" sz="1600" lang="en-US">
                <a:solidFill>
                  <a:srgbClr val="E6E9FF"/>
                </a:solidFill>
                <a:latin typeface="Lexend"/>
                <a:ea typeface="Lexend"/>
                <a:cs typeface="Lexend"/>
              </a:rPr>
              <a:t>Campus · 5 km</a:t>
            </a:r>
          </a:p>
        </p:txBody>
      </p:sp>
      <p:sp>
        <p:nvSpPr>
          <p:cNvPr id="1048592" name="Place Station"/>
          <p:cNvSpPr/>
          <p:nvPr/>
        </p:nvSpPr>
        <p:spPr>
          <a:xfrm>
            <a:off x="9500000" y="4046136"/>
            <a:ext cx="2082111" cy="560000"/>
          </a:xfrm>
          <a:prstGeom prst="roundRect"/>
          <a:solidFill>
            <a:srgbClr val="1E1F66"/>
          </a:solidFill>
          <a:ln w="19050">
            <a:solidFill>
              <a:srgbClr val="7C83FF"/>
            </a:solidFill>
          </a:ln>
        </p:spPr>
        <p:txBody>
          <a:bodyPr anchor="ctr" bIns="0" lIns="91440" rIns="91440" tIns="0" wrap="square">
            <a:normAutofit/>
          </a:bodyPr>
          <a:p>
            <a:pPr algn="ctr"/>
            <a:r>
              <a:rPr dirty="0" sz="1600" lang="en-US">
                <a:solidFill>
                  <a:srgbClr val="E6E9FF"/>
                </a:solidFill>
                <a:latin typeface="Lexend"/>
                <a:ea typeface="Lexend"/>
                <a:cs typeface="Lexend"/>
              </a:rPr>
              <a:t>Station · 4 km</a:t>
            </a:r>
          </a:p>
        </p:txBody>
      </p:sp>
      <p:sp>
        <p:nvSpPr>
          <p:cNvPr id="1048593" name="Place Market"/>
          <p:cNvSpPr/>
          <p:nvPr/>
        </p:nvSpPr>
        <p:spPr>
          <a:xfrm>
            <a:off x="9500000" y="4808136"/>
            <a:ext cx="2082111" cy="560000"/>
          </a:xfrm>
          <a:prstGeom prst="roundRect"/>
          <a:solidFill>
            <a:srgbClr val="1E1F66"/>
          </a:solidFill>
          <a:ln w="19050">
            <a:solidFill>
              <a:srgbClr val="7C83FF"/>
            </a:solidFill>
          </a:ln>
        </p:spPr>
        <p:txBody>
          <a:bodyPr anchor="ctr" bIns="0" lIns="91440" rIns="91440" tIns="0" wrap="square">
            <a:normAutofit/>
          </a:bodyPr>
          <a:p>
            <a:pPr algn="ctr"/>
            <a:r>
              <a:rPr dirty="0" sz="1600" lang="en-US">
                <a:solidFill>
                  <a:srgbClr val="E6E9FF"/>
                </a:solidFill>
                <a:latin typeface="Lexend"/>
                <a:ea typeface="Lexend"/>
                <a:cs typeface="Lexend"/>
              </a:rPr>
              <a:t>Market · 6 km</a:t>
            </a:r>
          </a:p>
        </p:txBody>
      </p:sp>
      <p:sp>
        <p:nvSpPr>
          <p:cNvPr id="1048594" name="Home node"/>
          <p:cNvSpPr/>
          <p:nvPr/>
        </p:nvSpPr>
        <p:spPr>
          <a:xfrm>
            <a:off x="6248244" y="3445136"/>
            <a:ext cx="1000000" cy="1000000"/>
          </a:xfrm>
          <a:prstGeom prst="ellipse"/>
          <a:solidFill>
            <a:srgbClr val="7C83FF"/>
          </a:solidFill>
          <a:ln>
            <a:noFill/>
          </a:ln>
        </p:spPr>
        <p:txBody>
          <a:bodyPr anchor="ctr" bIns="0" lIns="0" rIns="0" tIns="0" wrap="none"/>
          <a:p>
            <a:pPr algn="ctr"/>
            <a:r>
              <a:rPr b="1" dirty="0" sz="1600" lang="en-US">
                <a:solidFill>
                  <a:srgbClr val="FFFFFF"/>
                </a:solidFill>
                <a:latin typeface="Lexend"/>
                <a:ea typeface="Lexend"/>
                <a:cs typeface="Lexend"/>
              </a:rPr>
              <a:t>Home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Text 0"/>
          <p:cNvSpPr/>
          <p:nvPr/>
        </p:nvSpPr>
        <p:spPr>
          <a:xfrm>
            <a:off x="609585" y="626745"/>
            <a:ext cx="11582110" cy="198041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0000"/>
              </a:lnSpc>
              <a:buNone/>
            </a:pPr>
            <a:r>
              <a:rPr dirty="0" sz="1300" kern="100" lang="en-US" spc="78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REAL-WORLD USE</a:t>
            </a:r>
            <a:endParaRPr dirty="0" sz="1300" lang="en-US"/>
          </a:p>
        </p:txBody>
      </p:sp>
      <p:sp>
        <p:nvSpPr>
          <p:cNvPr id="1048599" name="Text 1"/>
          <p:cNvSpPr/>
          <p:nvPr/>
        </p:nvSpPr>
        <p:spPr>
          <a:xfrm>
            <a:off x="609585" y="946375"/>
            <a:ext cx="10972526" cy="40888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96000"/>
              </a:lnSpc>
              <a:buNone/>
            </a:pPr>
            <a:r>
              <a:rPr dirty="0" sz="2800" kern="100" lang="en-US" spc="-14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Where is it used?</a:t>
            </a:r>
            <a:endParaRPr dirty="0" sz="2800" lang="en-US"/>
          </a:p>
        </p:txBody>
      </p:sp>
      <p:sp>
        <p:nvSpPr>
          <p:cNvPr id="1048600" name="Text 2"/>
          <p:cNvSpPr/>
          <p:nvPr/>
        </p:nvSpPr>
        <p:spPr>
          <a:xfrm>
            <a:off x="609585" y="1653401"/>
            <a:ext cx="10972526" cy="822920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13000"/>
              </a:lnSpc>
              <a:buNone/>
            </a:pPr>
            <a:r>
              <a:rPr dirty="0" sz="2400" lang="en-US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Whenever a system must choose the least-cost route through connected possibilities.</a:t>
            </a:r>
            <a:endParaRPr dirty="0" sz="2400" lang="en-US"/>
          </a:p>
        </p:txBody>
      </p:sp>
      <p:pic>
        <p:nvPicPr>
          <p:cNvPr id="2097156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609585" y="4142184"/>
            <a:ext cx="761981" cy="762000"/>
          </a:xfrm>
          <a:prstGeom prst="rect"/>
        </p:spPr>
      </p:pic>
      <p:sp>
        <p:nvSpPr>
          <p:cNvPr id="1048601" name="Text 3"/>
          <p:cNvSpPr/>
          <p:nvPr/>
        </p:nvSpPr>
        <p:spPr>
          <a:xfrm>
            <a:off x="609585" y="5094684"/>
            <a:ext cx="2514537" cy="33020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8000"/>
              </a:lnSpc>
              <a:buNone/>
            </a:pPr>
            <a:r>
              <a:rPr dirty="0" sz="2000" kern="100" lang="en-US" spc="-1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Maps</a:t>
            </a:r>
            <a:endParaRPr dirty="0" sz="2000" lang="en-US"/>
          </a:p>
        </p:txBody>
      </p:sp>
      <p:sp>
        <p:nvSpPr>
          <p:cNvPr id="1048602" name="Text 4"/>
          <p:cNvSpPr/>
          <p:nvPr/>
        </p:nvSpPr>
        <p:spPr>
          <a:xfrm>
            <a:off x="609585" y="5639832"/>
            <a:ext cx="2514537" cy="617141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13000"/>
              </a:lnSpc>
              <a:buNone/>
            </a:pPr>
            <a:r>
              <a:rPr dirty="0" sz="1800" lang="en-US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Google Maps and GPS navigation</a:t>
            </a:r>
            <a:endParaRPr dirty="0" sz="1800" lang="en-US"/>
          </a:p>
        </p:txBody>
      </p:sp>
      <p:pic>
        <p:nvPicPr>
          <p:cNvPr id="2097157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3428914" y="4142184"/>
            <a:ext cx="761981" cy="762000"/>
          </a:xfrm>
          <a:prstGeom prst="rect"/>
        </p:spPr>
      </p:pic>
      <p:sp>
        <p:nvSpPr>
          <p:cNvPr id="1048603" name="Text 5"/>
          <p:cNvSpPr/>
          <p:nvPr/>
        </p:nvSpPr>
        <p:spPr>
          <a:xfrm>
            <a:off x="3428914" y="5094684"/>
            <a:ext cx="2514537" cy="33020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8000"/>
              </a:lnSpc>
              <a:buNone/>
            </a:pPr>
            <a:r>
              <a:rPr dirty="0" sz="2000" kern="100" lang="en-US" spc="-1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Networks</a:t>
            </a:r>
            <a:endParaRPr dirty="0" sz="2000" lang="en-US"/>
          </a:p>
        </p:txBody>
      </p:sp>
      <p:sp>
        <p:nvSpPr>
          <p:cNvPr id="1048604" name="Text 6"/>
          <p:cNvSpPr/>
          <p:nvPr/>
        </p:nvSpPr>
        <p:spPr>
          <a:xfrm>
            <a:off x="3428914" y="5639832"/>
            <a:ext cx="2514537" cy="617141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13000"/>
              </a:lnSpc>
              <a:buNone/>
            </a:pPr>
            <a:r>
              <a:rPr dirty="0" sz="1800" lang="en-US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Network routing: OSPF</a:t>
            </a:r>
            <a:endParaRPr dirty="0" sz="1800" lang="en-US"/>
          </a:p>
        </p:txBody>
      </p:sp>
      <p:pic>
        <p:nvPicPr>
          <p:cNvPr id="2097158" name="Image 2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6248244" y="4142184"/>
            <a:ext cx="761981" cy="762000"/>
          </a:xfrm>
          <a:prstGeom prst="rect"/>
        </p:spPr>
      </p:pic>
      <p:sp>
        <p:nvSpPr>
          <p:cNvPr id="1048605" name="Text 7"/>
          <p:cNvSpPr/>
          <p:nvPr/>
        </p:nvSpPr>
        <p:spPr>
          <a:xfrm>
            <a:off x="6248244" y="5094684"/>
            <a:ext cx="2514537" cy="33020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8000"/>
              </a:lnSpc>
              <a:buNone/>
            </a:pPr>
            <a:r>
              <a:rPr dirty="0" sz="2000" kern="100" lang="en-US" spc="-1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Flights</a:t>
            </a:r>
            <a:endParaRPr dirty="0" sz="2000" lang="en-US"/>
          </a:p>
        </p:txBody>
      </p:sp>
      <p:sp>
        <p:nvSpPr>
          <p:cNvPr id="1048606" name="Text 8"/>
          <p:cNvSpPr/>
          <p:nvPr/>
        </p:nvSpPr>
        <p:spPr>
          <a:xfrm>
            <a:off x="6248244" y="5639832"/>
            <a:ext cx="2514537" cy="30857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13000"/>
              </a:lnSpc>
              <a:buNone/>
            </a:pPr>
            <a:r>
              <a:rPr dirty="0" sz="1800" lang="en-US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Flight route planning</a:t>
            </a:r>
            <a:endParaRPr dirty="0" sz="1800" lang="en-US"/>
          </a:p>
        </p:txBody>
      </p:sp>
      <p:pic>
        <p:nvPicPr>
          <p:cNvPr id="2097159" name="Image 3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9067573" y="4142184"/>
            <a:ext cx="761981" cy="762000"/>
          </a:xfrm>
          <a:prstGeom prst="rect"/>
        </p:spPr>
      </p:pic>
      <p:sp>
        <p:nvSpPr>
          <p:cNvPr id="1048607" name="Text 9"/>
          <p:cNvSpPr/>
          <p:nvPr/>
        </p:nvSpPr>
        <p:spPr>
          <a:xfrm>
            <a:off x="9067573" y="5094684"/>
            <a:ext cx="2514537" cy="33020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8000"/>
              </a:lnSpc>
              <a:buNone/>
            </a:pPr>
            <a:r>
              <a:rPr dirty="0" sz="2000" kern="100" lang="en-US" spc="-1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Games</a:t>
            </a:r>
            <a:endParaRPr dirty="0" sz="2000" lang="en-US"/>
          </a:p>
        </p:txBody>
      </p:sp>
      <p:sp>
        <p:nvSpPr>
          <p:cNvPr id="1048608" name="Text 10"/>
          <p:cNvSpPr/>
          <p:nvPr/>
        </p:nvSpPr>
        <p:spPr>
          <a:xfrm>
            <a:off x="9067573" y="5639832"/>
            <a:ext cx="2514537" cy="30857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13000"/>
              </a:lnSpc>
              <a:buNone/>
            </a:pPr>
            <a:r>
              <a:rPr dirty="0" sz="1800" lang="en-US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Game AI pathfinding</a:t>
            </a:r>
            <a:endParaRPr dirty="0" sz="1800"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Text 0"/>
          <p:cNvSpPr/>
          <p:nvPr/>
        </p:nvSpPr>
        <p:spPr>
          <a:xfrm>
            <a:off x="609585" y="626745"/>
            <a:ext cx="11582110" cy="198041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0000"/>
              </a:lnSpc>
              <a:buNone/>
            </a:pPr>
            <a:r>
              <a:rPr dirty="0" sz="1300" kern="100" lang="en-US" spc="78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THE GREEDY CHOICE</a:t>
            </a:r>
            <a:endParaRPr dirty="0" sz="1300" lang="en-US"/>
          </a:p>
        </p:txBody>
      </p:sp>
      <p:sp>
        <p:nvSpPr>
          <p:cNvPr id="1048613" name="Text 1"/>
          <p:cNvSpPr/>
          <p:nvPr/>
        </p:nvSpPr>
        <p:spPr>
          <a:xfrm>
            <a:off x="609585" y="946375"/>
            <a:ext cx="10972526" cy="40888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96000"/>
              </a:lnSpc>
              <a:buNone/>
            </a:pPr>
            <a:r>
              <a:rPr dirty="0" sz="2800" kern="100" lang="en-US" spc="-14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The key idea is greedy</a:t>
            </a:r>
            <a:endParaRPr dirty="0" sz="2800" lang="en-US"/>
          </a:p>
        </p:txBody>
      </p:sp>
      <p:sp>
        <p:nvSpPr>
          <p:cNvPr id="1048614" name="Text 2"/>
          <p:cNvSpPr/>
          <p:nvPr/>
        </p:nvSpPr>
        <p:spPr>
          <a:xfrm>
            <a:off x="609585" y="1641971"/>
            <a:ext cx="6400640" cy="2209701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-487680" marL="487680">
              <a:lnSpc>
                <a:spcPct val="113000"/>
              </a:lnSpc>
              <a:buSzPct val="100000"/>
              <a:buChar char="•"/>
            </a:pPr>
            <a:r>
              <a:rPr dirty="0" sz="2400" lang="en-US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Pick the unvisited node with the smallest known distance.</a:t>
            </a:r>
            <a:endParaRPr dirty="0" sz="2400" lang="en-US"/>
          </a:p>
          <a:p>
            <a:pPr algn="l" indent="-487680" marL="487680">
              <a:lnSpc>
                <a:spcPct val="113000"/>
              </a:lnSpc>
              <a:buSzPct val="100000"/>
              <a:buChar char="•"/>
            </a:pPr>
            <a:r>
              <a:rPr dirty="0" sz="2400" lang="en-US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Then update, or relax, its neighbours.</a:t>
            </a:r>
            <a:endParaRPr dirty="0" sz="2400" lang="en-US"/>
          </a:p>
          <a:p>
            <a:pPr algn="l" indent="-487680" marL="487680">
              <a:lnSpc>
                <a:spcPct val="113000"/>
              </a:lnSpc>
              <a:buSzPct val="100000"/>
              <a:buChar char="•"/>
            </a:pPr>
            <a:r>
              <a:rPr dirty="0" sz="2400" lang="en-US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Once chosen, its shortest distance is final.</a:t>
            </a:r>
            <a:endParaRPr dirty="0" sz="2400" lang="en-US"/>
          </a:p>
        </p:txBody>
      </p:sp>
      <p:sp>
        <p:nvSpPr>
          <p:cNvPr id="1048615" name="Text 3"/>
          <p:cNvSpPr/>
          <p:nvPr/>
        </p:nvSpPr>
        <p:spPr>
          <a:xfrm>
            <a:off x="609585" y="4040902"/>
            <a:ext cx="6400640" cy="822920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13000"/>
              </a:lnSpc>
              <a:buNone/>
            </a:pPr>
            <a:r>
              <a:rPr dirty="0" sz="2400" lang="en-US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That choice is safe because all edge weights are non-negative.</a:t>
            </a:r>
            <a:endParaRPr dirty="0" sz="2400" lang="en-US"/>
          </a:p>
        </p:txBody>
      </p:sp>
      <p:pic>
        <p:nvPicPr>
          <p:cNvPr id="2097160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7314918" y="1641971"/>
            <a:ext cx="4267192" cy="1544737"/>
          </a:xfrm>
          <a:prstGeom prst="rect"/>
        </p:spPr>
      </p:pic>
      <p:sp>
        <p:nvSpPr>
          <p:cNvPr id="1048616" name="Text 4"/>
          <p:cNvSpPr/>
          <p:nvPr/>
        </p:nvSpPr>
        <p:spPr>
          <a:xfrm>
            <a:off x="7626479" y="1868842"/>
            <a:ext cx="2632777" cy="147929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8000"/>
              </a:lnSpc>
              <a:buNone/>
            </a:pPr>
            <a:r>
              <a:rPr dirty="0" sz="900" kern="100" lang="en-US" spc="-4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Pick Greedy u</a:t>
            </a:r>
            <a:endParaRPr dirty="0" sz="900" lang="en-US"/>
          </a:p>
        </p:txBody>
      </p:sp>
      <p:sp>
        <p:nvSpPr>
          <p:cNvPr id="1048617" name="Text 5"/>
          <p:cNvSpPr/>
          <p:nvPr/>
        </p:nvSpPr>
        <p:spPr>
          <a:xfrm>
            <a:off x="7626479" y="2338231"/>
            <a:ext cx="2632777" cy="147929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8000"/>
              </a:lnSpc>
              <a:buNone/>
            </a:pPr>
            <a:r>
              <a:rPr dirty="0" sz="900" kern="100" lang="en-US" spc="-4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Consider v</a:t>
            </a:r>
            <a:endParaRPr dirty="0" sz="900" lang="en-US"/>
          </a:p>
        </p:txBody>
      </p:sp>
      <p:sp>
        <p:nvSpPr>
          <p:cNvPr id="1048618" name="Text 6"/>
          <p:cNvSpPr/>
          <p:nvPr/>
        </p:nvSpPr>
        <p:spPr>
          <a:xfrm>
            <a:off x="7626479" y="2803353"/>
            <a:ext cx="2632777" cy="147928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8000"/>
              </a:lnSpc>
              <a:buNone/>
            </a:pPr>
            <a:r>
              <a:rPr dirty="0" sz="900" kern="100" lang="en-US" spc="-4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Relax via u</a:t>
            </a:r>
            <a:endParaRPr dirty="0" sz="900" lang="en-US"/>
          </a:p>
        </p:txBody>
      </p:sp>
      <p:sp>
        <p:nvSpPr>
          <p:cNvPr id="1048619" name="Shape 7"/>
          <p:cNvSpPr/>
          <p:nvPr/>
        </p:nvSpPr>
        <p:spPr>
          <a:xfrm>
            <a:off x="7314918" y="3364508"/>
            <a:ext cx="4267192" cy="2125861"/>
          </a:xfrm>
          <a:prstGeom prst="roundRect">
            <a:avLst>
              <a:gd name="adj" fmla="val 6022"/>
            </a:avLst>
          </a:prstGeom>
          <a:solidFill>
            <a:srgbClr val="1E1F66"/>
          </a:solidFill>
          <a:ln w="38099">
            <a:solidFill>
              <a:srgbClr val="4D4D84"/>
            </a:solidFill>
            <a:prstDash val="solid"/>
          </a:ln>
        </p:spPr>
      </p:sp>
      <p:sp>
        <p:nvSpPr>
          <p:cNvPr id="1048620" name="Text 8"/>
          <p:cNvSpPr/>
          <p:nvPr/>
        </p:nvSpPr>
        <p:spPr>
          <a:xfrm>
            <a:off x="7581611" y="3614698"/>
            <a:ext cx="4000499" cy="23108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8000"/>
              </a:lnSpc>
              <a:buNone/>
            </a:pPr>
            <a:r>
              <a:rPr dirty="0" sz="1400" kern="100" lang="en-US" spc="14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Relaxation rule</a:t>
            </a:r>
            <a:endParaRPr dirty="0" sz="1400" lang="en-US"/>
          </a:p>
        </p:txBody>
      </p:sp>
      <p:sp>
        <p:nvSpPr>
          <p:cNvPr id="1048621" name="Text 9"/>
          <p:cNvSpPr/>
          <p:nvPr/>
        </p:nvSpPr>
        <p:spPr>
          <a:xfrm>
            <a:off x="7581611" y="4026118"/>
            <a:ext cx="3733806" cy="1234380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13000"/>
              </a:lnSpc>
              <a:buNone/>
            </a:pPr>
            <a:r>
              <a:rPr dirty="0" sz="2400" lang="en-US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if </a:t>
            </a:r>
            <a:r>
              <a:rPr b="1" dirty="0" sz="2400" lang="en-US">
                <a:solidFill>
                  <a:srgbClr val="E6E9FF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dist[u] + w(u,v) &lt; dist[v]</a:t>
            </a:r>
            <a:r>
              <a:rPr dirty="0" sz="2400" lang="en-US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, then </a:t>
            </a:r>
            <a:r>
              <a:rPr b="1" dirty="0" sz="2400" lang="en-US">
                <a:solidFill>
                  <a:srgbClr val="E6E9FF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dist[v] = dist[u] + w(u,v)</a:t>
            </a:r>
            <a:endParaRPr dirty="0" sz="2400"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Text 0"/>
          <p:cNvSpPr/>
          <p:nvPr/>
        </p:nvSpPr>
        <p:spPr>
          <a:xfrm>
            <a:off x="609585" y="626745"/>
            <a:ext cx="11582110" cy="198041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0000"/>
              </a:lnSpc>
              <a:buNone/>
            </a:pPr>
            <a:r>
              <a:rPr dirty="0" sz="1300" kern="100" lang="en-US" spc="78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THE PROCEDURE</a:t>
            </a:r>
            <a:endParaRPr dirty="0" sz="1300" lang="en-US"/>
          </a:p>
        </p:txBody>
      </p:sp>
      <p:sp>
        <p:nvSpPr>
          <p:cNvPr id="1048626" name="Text 1"/>
          <p:cNvSpPr/>
          <p:nvPr/>
        </p:nvSpPr>
        <p:spPr>
          <a:xfrm>
            <a:off x="609585" y="946375"/>
            <a:ext cx="10972526" cy="40888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96000"/>
              </a:lnSpc>
              <a:buNone/>
            </a:pPr>
            <a:r>
              <a:rPr dirty="0" sz="2800" kern="100" lang="en-US" spc="-14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How the algorithm works</a:t>
            </a:r>
            <a:endParaRPr dirty="0" sz="2800" lang="en-US"/>
          </a:p>
        </p:txBody>
      </p:sp>
      <p:sp>
        <p:nvSpPr>
          <p:cNvPr id="1048627" name="Text 2"/>
          <p:cNvSpPr/>
          <p:nvPr/>
        </p:nvSpPr>
        <p:spPr>
          <a:xfrm>
            <a:off x="609585" y="2588320"/>
            <a:ext cx="1067071" cy="30480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83000"/>
              </a:lnSpc>
              <a:buNone/>
            </a:pPr>
            <a:r>
              <a:rPr dirty="0" sz="2400" lang="en-US">
                <a:solidFill>
                  <a:srgbClr val="69A1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01</a:t>
            </a:r>
            <a:endParaRPr dirty="0" sz="2400" lang="en-US"/>
          </a:p>
        </p:txBody>
      </p:sp>
      <p:sp>
        <p:nvSpPr>
          <p:cNvPr id="1048628" name="Shape 3"/>
          <p:cNvSpPr/>
          <p:nvPr/>
        </p:nvSpPr>
        <p:spPr>
          <a:xfrm>
            <a:off x="609585" y="3015059"/>
            <a:ext cx="1950592" cy="19050"/>
          </a:xfrm>
          <a:prstGeom prst="rect"/>
          <a:solidFill>
            <a:srgbClr val="2878FF"/>
          </a:solidFill>
        </p:spPr>
      </p:sp>
      <p:sp>
        <p:nvSpPr>
          <p:cNvPr id="1048629" name="Text 4"/>
          <p:cNvSpPr/>
          <p:nvPr/>
        </p:nvSpPr>
        <p:spPr>
          <a:xfrm>
            <a:off x="609585" y="3229669"/>
            <a:ext cx="1950691" cy="33020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8000"/>
              </a:lnSpc>
              <a:buNone/>
            </a:pPr>
            <a:r>
              <a:rPr dirty="0" sz="2000" kern="100" lang="en-US" spc="-1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Initialize</a:t>
            </a:r>
            <a:endParaRPr dirty="0" sz="2000" lang="en-US"/>
          </a:p>
        </p:txBody>
      </p:sp>
      <p:sp>
        <p:nvSpPr>
          <p:cNvPr id="1048630" name="Text 5"/>
          <p:cNvSpPr/>
          <p:nvPr/>
        </p:nvSpPr>
        <p:spPr>
          <a:xfrm>
            <a:off x="609585" y="3774817"/>
            <a:ext cx="1950691" cy="925711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13000"/>
              </a:lnSpc>
              <a:buNone/>
            </a:pPr>
            <a:r>
              <a:rPr dirty="0" sz="1800" lang="en-US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Set source distance to 0; all others to infinity.</a:t>
            </a:r>
            <a:endParaRPr dirty="0" sz="1800" lang="en-US"/>
          </a:p>
        </p:txBody>
      </p:sp>
      <p:sp>
        <p:nvSpPr>
          <p:cNvPr id="1048631" name="Text 6"/>
          <p:cNvSpPr/>
          <p:nvPr/>
        </p:nvSpPr>
        <p:spPr>
          <a:xfrm>
            <a:off x="2864969" y="2588320"/>
            <a:ext cx="1143765" cy="30480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83000"/>
              </a:lnSpc>
              <a:buNone/>
            </a:pPr>
            <a:r>
              <a:rPr dirty="0" sz="2400" lang="en-US">
                <a:solidFill>
                  <a:srgbClr val="69A1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02</a:t>
            </a:r>
            <a:endParaRPr dirty="0" sz="2400" lang="en-US"/>
          </a:p>
        </p:txBody>
      </p:sp>
      <p:sp>
        <p:nvSpPr>
          <p:cNvPr id="1048632" name="Shape 7"/>
          <p:cNvSpPr/>
          <p:nvPr/>
        </p:nvSpPr>
        <p:spPr>
          <a:xfrm>
            <a:off x="2864969" y="3015059"/>
            <a:ext cx="1950592" cy="19050"/>
          </a:xfrm>
          <a:prstGeom prst="rect"/>
          <a:solidFill>
            <a:srgbClr val="2878FF"/>
          </a:solidFill>
        </p:spPr>
      </p:sp>
      <p:sp>
        <p:nvSpPr>
          <p:cNvPr id="1048633" name="Text 8"/>
          <p:cNvSpPr/>
          <p:nvPr/>
        </p:nvSpPr>
        <p:spPr>
          <a:xfrm>
            <a:off x="2864969" y="3229669"/>
            <a:ext cx="1950691" cy="33020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8000"/>
              </a:lnSpc>
              <a:buNone/>
            </a:pPr>
            <a:r>
              <a:rPr dirty="0" sz="2000" kern="100" lang="en-US" spc="-1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Queue</a:t>
            </a:r>
            <a:endParaRPr dirty="0" sz="2000" lang="en-US"/>
          </a:p>
        </p:txBody>
      </p:sp>
      <p:sp>
        <p:nvSpPr>
          <p:cNvPr id="1048634" name="Text 9"/>
          <p:cNvSpPr/>
          <p:nvPr/>
        </p:nvSpPr>
        <p:spPr>
          <a:xfrm>
            <a:off x="2864969" y="3774817"/>
            <a:ext cx="1950691" cy="617141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13000"/>
              </a:lnSpc>
              <a:buNone/>
            </a:pPr>
            <a:r>
              <a:rPr dirty="0" sz="1800" lang="en-US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Put all nodes in a priority queue.</a:t>
            </a:r>
            <a:endParaRPr dirty="0" sz="1800" lang="en-US"/>
          </a:p>
        </p:txBody>
      </p:sp>
      <p:sp>
        <p:nvSpPr>
          <p:cNvPr id="1048635" name="Text 10"/>
          <p:cNvSpPr/>
          <p:nvPr/>
        </p:nvSpPr>
        <p:spPr>
          <a:xfrm>
            <a:off x="5120353" y="2588320"/>
            <a:ext cx="1143765" cy="30480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83000"/>
              </a:lnSpc>
              <a:buNone/>
            </a:pPr>
            <a:r>
              <a:rPr dirty="0" sz="2400" lang="en-US">
                <a:solidFill>
                  <a:srgbClr val="69A1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03</a:t>
            </a:r>
            <a:endParaRPr dirty="0" sz="2400" lang="en-US"/>
          </a:p>
        </p:txBody>
      </p:sp>
      <p:sp>
        <p:nvSpPr>
          <p:cNvPr id="1048636" name="Shape 11"/>
          <p:cNvSpPr/>
          <p:nvPr/>
        </p:nvSpPr>
        <p:spPr>
          <a:xfrm>
            <a:off x="5120353" y="3015059"/>
            <a:ext cx="1950889" cy="19050"/>
          </a:xfrm>
          <a:prstGeom prst="rect"/>
          <a:solidFill>
            <a:srgbClr val="2878FF"/>
          </a:solidFill>
        </p:spPr>
      </p:sp>
      <p:sp>
        <p:nvSpPr>
          <p:cNvPr id="1048637" name="Text 12"/>
          <p:cNvSpPr/>
          <p:nvPr/>
        </p:nvSpPr>
        <p:spPr>
          <a:xfrm>
            <a:off x="5120353" y="3229669"/>
            <a:ext cx="1950889" cy="33020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8000"/>
              </a:lnSpc>
              <a:buNone/>
            </a:pPr>
            <a:r>
              <a:rPr dirty="0" sz="2000" kern="100" lang="en-US" spc="-1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Select</a:t>
            </a:r>
            <a:endParaRPr dirty="0" sz="2000" lang="en-US"/>
          </a:p>
        </p:txBody>
      </p:sp>
      <p:sp>
        <p:nvSpPr>
          <p:cNvPr id="1048638" name="Text 13"/>
          <p:cNvSpPr/>
          <p:nvPr/>
        </p:nvSpPr>
        <p:spPr>
          <a:xfrm>
            <a:off x="5120353" y="3774817"/>
            <a:ext cx="1950889" cy="925711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13000"/>
              </a:lnSpc>
              <a:buNone/>
            </a:pPr>
            <a:r>
              <a:rPr dirty="0" sz="1800" lang="en-US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Pick the node with the smallest distance.</a:t>
            </a:r>
            <a:endParaRPr dirty="0" sz="1800" lang="en-US"/>
          </a:p>
        </p:txBody>
      </p:sp>
      <p:sp>
        <p:nvSpPr>
          <p:cNvPr id="1048639" name="Text 14"/>
          <p:cNvSpPr/>
          <p:nvPr/>
        </p:nvSpPr>
        <p:spPr>
          <a:xfrm>
            <a:off x="7375936" y="2588320"/>
            <a:ext cx="1168172" cy="30480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83000"/>
              </a:lnSpc>
              <a:buNone/>
            </a:pPr>
            <a:r>
              <a:rPr dirty="0" sz="2400" lang="en-US">
                <a:solidFill>
                  <a:srgbClr val="69A1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04</a:t>
            </a:r>
            <a:endParaRPr dirty="0" sz="2400" lang="en-US"/>
          </a:p>
        </p:txBody>
      </p:sp>
      <p:sp>
        <p:nvSpPr>
          <p:cNvPr id="1048640" name="Shape 15"/>
          <p:cNvSpPr/>
          <p:nvPr/>
        </p:nvSpPr>
        <p:spPr>
          <a:xfrm>
            <a:off x="7375936" y="3015059"/>
            <a:ext cx="1950592" cy="19050"/>
          </a:xfrm>
          <a:prstGeom prst="rect"/>
          <a:solidFill>
            <a:srgbClr val="2878FF"/>
          </a:solidFill>
        </p:spPr>
      </p:sp>
      <p:sp>
        <p:nvSpPr>
          <p:cNvPr id="1048641" name="Text 16"/>
          <p:cNvSpPr/>
          <p:nvPr/>
        </p:nvSpPr>
        <p:spPr>
          <a:xfrm>
            <a:off x="7375936" y="3229669"/>
            <a:ext cx="1950691" cy="33020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8000"/>
              </a:lnSpc>
              <a:buNone/>
            </a:pPr>
            <a:r>
              <a:rPr dirty="0" sz="2000" kern="100" lang="en-US" spc="-1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Relax</a:t>
            </a:r>
            <a:endParaRPr dirty="0" sz="2000" lang="en-US"/>
          </a:p>
        </p:txBody>
      </p:sp>
      <p:sp>
        <p:nvSpPr>
          <p:cNvPr id="1048642" name="Text 17"/>
          <p:cNvSpPr/>
          <p:nvPr/>
        </p:nvSpPr>
        <p:spPr>
          <a:xfrm>
            <a:off x="7375936" y="3774817"/>
            <a:ext cx="1950691" cy="1234281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13000"/>
              </a:lnSpc>
              <a:buNone/>
            </a:pPr>
            <a:r>
              <a:rPr dirty="0" sz="1800" lang="en-US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Update its neighbours if a shorter route appears.</a:t>
            </a:r>
            <a:endParaRPr dirty="0" sz="1800" lang="en-US"/>
          </a:p>
        </p:txBody>
      </p:sp>
      <p:sp>
        <p:nvSpPr>
          <p:cNvPr id="1048643" name="Text 18"/>
          <p:cNvSpPr/>
          <p:nvPr/>
        </p:nvSpPr>
        <p:spPr>
          <a:xfrm>
            <a:off x="9631320" y="2588320"/>
            <a:ext cx="1143765" cy="30480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83000"/>
              </a:lnSpc>
              <a:buNone/>
            </a:pPr>
            <a:r>
              <a:rPr dirty="0" sz="2400" lang="en-US">
                <a:solidFill>
                  <a:srgbClr val="69A1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05</a:t>
            </a:r>
            <a:endParaRPr dirty="0" sz="2400" lang="en-US"/>
          </a:p>
        </p:txBody>
      </p:sp>
      <p:sp>
        <p:nvSpPr>
          <p:cNvPr id="1048644" name="Shape 19"/>
          <p:cNvSpPr/>
          <p:nvPr/>
        </p:nvSpPr>
        <p:spPr>
          <a:xfrm>
            <a:off x="9631320" y="3015059"/>
            <a:ext cx="1950691" cy="19050"/>
          </a:xfrm>
          <a:prstGeom prst="rect"/>
          <a:solidFill>
            <a:srgbClr val="2878FF"/>
          </a:solidFill>
        </p:spPr>
      </p:sp>
      <p:sp>
        <p:nvSpPr>
          <p:cNvPr id="1048645" name="Text 20"/>
          <p:cNvSpPr/>
          <p:nvPr/>
        </p:nvSpPr>
        <p:spPr>
          <a:xfrm>
            <a:off x="9631320" y="3229669"/>
            <a:ext cx="1950790" cy="33020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8000"/>
              </a:lnSpc>
              <a:buNone/>
            </a:pPr>
            <a:r>
              <a:rPr dirty="0" sz="2000" kern="100" lang="en-US" spc="-1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Repeat</a:t>
            </a:r>
            <a:endParaRPr dirty="0" sz="2000" lang="en-US"/>
          </a:p>
        </p:txBody>
      </p:sp>
      <p:sp>
        <p:nvSpPr>
          <p:cNvPr id="1048646" name="Text 21"/>
          <p:cNvSpPr/>
          <p:nvPr/>
        </p:nvSpPr>
        <p:spPr>
          <a:xfrm>
            <a:off x="9631320" y="3774817"/>
            <a:ext cx="1950790" cy="617141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13000"/>
              </a:lnSpc>
              <a:buNone/>
            </a:pPr>
            <a:r>
              <a:rPr dirty="0" sz="1800" lang="en-US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Continue until all nodes are visited.</a:t>
            </a:r>
            <a:endParaRPr dirty="0" sz="1800"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Text 0"/>
          <p:cNvSpPr/>
          <p:nvPr/>
        </p:nvSpPr>
        <p:spPr>
          <a:xfrm>
            <a:off x="609585" y="624509"/>
            <a:ext cx="10972526" cy="40888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96000"/>
              </a:lnSpc>
              <a:buNone/>
            </a:pPr>
            <a:r>
              <a:rPr dirty="0" sz="2800" kern="100" lang="en-US" spc="-14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Worked example: start at A</a:t>
            </a:r>
            <a:endParaRPr dirty="0" sz="2800" lang="en-US"/>
          </a:p>
        </p:txBody>
      </p:sp>
      <p:sp>
        <p:nvSpPr>
          <p:cNvPr id="1048651" name="Shape 1"/>
          <p:cNvSpPr/>
          <p:nvPr/>
        </p:nvSpPr>
        <p:spPr>
          <a:xfrm>
            <a:off x="609585" y="1320105"/>
            <a:ext cx="5333867" cy="4697909"/>
          </a:xfrm>
          <a:prstGeom prst="roundRect">
            <a:avLst>
              <a:gd name="adj" fmla="val 3244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algn="bl" blurRad="201930" dir="16200000" dist="127" kx="0" ky="0" rotWithShape="0" sx="100000" sy="100000">
              <a:srgbClr val="2878FF">
                <a:alpha val="40000"/>
              </a:srgbClr>
            </a:outerShdw>
          </a:effectLst>
        </p:spPr>
      </p:sp>
      <p:sp>
        <p:nvSpPr>
          <p:cNvPr id="1048652" name="Text 2"/>
          <p:cNvSpPr/>
          <p:nvPr/>
        </p:nvSpPr>
        <p:spPr>
          <a:xfrm>
            <a:off x="857229" y="1506795"/>
            <a:ext cx="4838579" cy="39618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8000"/>
              </a:lnSpc>
              <a:buNone/>
            </a:pPr>
            <a:r>
              <a:rPr dirty="0" sz="2400" kern="100" lang="en-US" spc="-12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Weighted graph</a:t>
            </a:r>
            <a:endParaRPr dirty="0" sz="2400" lang="en-US"/>
          </a:p>
        </p:txBody>
      </p:sp>
      <p:sp>
        <p:nvSpPr>
          <p:cNvPr id="1048653" name="Text 3"/>
          <p:cNvSpPr/>
          <p:nvPr/>
        </p:nvSpPr>
        <p:spPr>
          <a:xfrm>
            <a:off x="857229" y="2115701"/>
            <a:ext cx="5086223" cy="23108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8000"/>
              </a:lnSpc>
              <a:buNone/>
            </a:pPr>
            <a:r>
              <a:rPr dirty="0" sz="1400" kern="100" lang="en-US" spc="14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Nodes A, B, C, D, E · Source A</a:t>
            </a:r>
            <a:endParaRPr dirty="0" sz="1400" lang="en-US"/>
          </a:p>
        </p:txBody>
      </p:sp>
      <p:sp>
        <p:nvSpPr>
          <p:cNvPr id="1048654" name="Text 4"/>
          <p:cNvSpPr/>
          <p:nvPr/>
        </p:nvSpPr>
        <p:spPr>
          <a:xfrm>
            <a:off x="857229" y="2524264"/>
            <a:ext cx="4838579" cy="617141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13000"/>
              </a:lnSpc>
              <a:buNone/>
            </a:pPr>
            <a:r>
              <a:rPr dirty="0" sz="1800" lang="en-US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A-B=4 · A-C=1 · C-B=2 · B-D=1</a:t>
            </a:r>
            <a:endParaRPr dirty="0" sz="1800" lang="en-US"/>
          </a:p>
          <a:p>
            <a:pPr algn="l" indent="0" marL="0">
              <a:lnSpc>
                <a:spcPct val="113000"/>
              </a:lnSpc>
              <a:buNone/>
            </a:pPr>
            <a:r>
              <a:rPr dirty="0" sz="1800" lang="en-US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C-D=5 · D-E=3 · B-E=7</a:t>
            </a:r>
            <a:endParaRPr dirty="0" sz="1800" lang="en-US"/>
          </a:p>
        </p:txBody>
      </p:sp>
      <p:sp>
        <p:nvSpPr>
          <p:cNvPr id="1048655" name="Text 5"/>
          <p:cNvSpPr/>
          <p:nvPr/>
        </p:nvSpPr>
        <p:spPr>
          <a:xfrm>
            <a:off x="857229" y="3310632"/>
            <a:ext cx="4838579" cy="639961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ct val="108000"/>
              </a:lnSpc>
              <a:spcAft>
                <a:spcPts val="1350"/>
              </a:spcAft>
              <a:buNone/>
            </a:pPr>
            <a:r>
              <a:rPr dirty="0" sz="1400" kern="100" lang="en-US" spc="14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Shortest route: A-C-B-D-E · Total weight: 1+2+1+3=7.</a:t>
            </a:r>
            <a:endParaRPr dirty="0" sz="1400" lang="en-US"/>
          </a:p>
          <a:p>
            <a:pPr algn="l" indent="0" marL="0">
              <a:lnSpc>
                <a:spcPct val="108000"/>
              </a:lnSpc>
              <a:buNone/>
            </a:pPr>
            <a:r>
              <a:rPr dirty="0" sz="1400" kern="100" lang="en-US" spc="14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Final distances from A: A = 0, C = 1, B = 3, D = 4, E = 7.</a:t>
            </a:r>
            <a:endParaRPr dirty="0" sz="1400" lang="en-US"/>
          </a:p>
        </p:txBody>
      </p:sp>
      <p:sp>
        <p:nvSpPr>
          <p:cNvPr id="1048656" name="Shape 6"/>
          <p:cNvSpPr/>
          <p:nvPr/>
        </p:nvSpPr>
        <p:spPr>
          <a:xfrm>
            <a:off x="6248244" y="1320105"/>
            <a:ext cx="5333867" cy="4697909"/>
          </a:xfrm>
          <a:prstGeom prst="roundRect">
            <a:avLst>
              <a:gd name="adj" fmla="val 3244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algn="bl" blurRad="201930" dir="16200000" dist="127" kx="0" ky="0" rotWithShape="0" sx="100000" sy="100000">
              <a:srgbClr val="2878FF">
                <a:alpha val="40000"/>
              </a:srgbClr>
            </a:outerShdw>
          </a:effectLst>
        </p:spPr>
      </p:sp>
      <p:sp>
        <p:nvSpPr>
          <p:cNvPr id="1048657" name="Text 7"/>
          <p:cNvSpPr/>
          <p:nvPr/>
        </p:nvSpPr>
        <p:spPr>
          <a:xfrm>
            <a:off x="6495887" y="1506795"/>
            <a:ext cx="4838579" cy="39618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8000"/>
              </a:lnSpc>
              <a:buNone/>
            </a:pPr>
            <a:r>
              <a:rPr dirty="0" sz="2400" kern="100" lang="en-US" spc="-12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Distance after each visit</a:t>
            </a:r>
            <a:endParaRPr dirty="0" sz="2400" lang="en-US"/>
          </a:p>
        </p:txBody>
      </p:sp>
      <p:graphicFrame>
        <p:nvGraphicFramePr>
          <p:cNvPr id="4194304" name="Table 0"/>
          <p:cNvGraphicFramePr>
            <a:graphicFrameLocks noGrp="1"/>
          </p:cNvGraphicFramePr>
          <p:nvPr/>
        </p:nvGraphicFramePr>
        <p:xfrm>
          <a:off x="6495887" y="2106811"/>
          <a:ext cx="4838579" cy="914400"/>
        </p:xfrm>
        <a:graphic>
          <a:graphicData uri="http://schemas.openxmlformats.org/drawingml/2006/table">
            <a:tbl>
              <a:tblPr/>
              <a:tblGrid>
                <a:gridCol w="1448260"/>
                <a:gridCol w="676754"/>
                <a:gridCol w="677052"/>
                <a:gridCol w="677052"/>
                <a:gridCol w="677052"/>
                <a:gridCol w="682410"/>
              </a:tblGrid>
              <a:tr h="536958"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600" lang="en-US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Step</a:t>
                      </a:r>
                      <a:endParaRPr dirty="0" sz="1600" lang="en-US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66"/>
                    </a:solidFill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600" lang="en-US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A</a:t>
                      </a:r>
                      <a:endParaRPr dirty="0" sz="1600" lang="en-US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66"/>
                    </a:solidFill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600" lang="en-US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B</a:t>
                      </a:r>
                      <a:endParaRPr dirty="0" sz="1600" lang="en-US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66"/>
                    </a:solidFill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600" lang="en-US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C</a:t>
                      </a:r>
                      <a:endParaRPr dirty="0" sz="1600" lang="en-US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66"/>
                    </a:solidFill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600" lang="en-US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D</a:t>
                      </a:r>
                      <a:endParaRPr dirty="0" sz="1600" lang="en-US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66"/>
                    </a:solidFill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600" lang="en-US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E</a:t>
                      </a:r>
                      <a:endParaRPr dirty="0" sz="1600" lang="en-US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66"/>
                    </a:solidFill>
                  </a:tcPr>
                </a:tc>
              </a:tr>
              <a:tr h="536958"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600" lang="en-US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Start</a:t>
                      </a:r>
                      <a:endParaRPr dirty="0" sz="1600" lang="en-US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66"/>
                    </a:solidFill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600" lang="en-US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dirty="0" sz="1600" lang="en-US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66"/>
                    </a:solidFill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600" lang="en-US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∞</a:t>
                      </a:r>
                      <a:endParaRPr dirty="0" sz="1600" lang="en-US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66"/>
                    </a:solidFill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600" lang="en-US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∞</a:t>
                      </a:r>
                      <a:endParaRPr dirty="0" sz="1600" lang="en-US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66"/>
                    </a:solidFill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600" lang="en-US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∞</a:t>
                      </a:r>
                      <a:endParaRPr dirty="0" sz="1600" lang="en-US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66"/>
                    </a:solidFill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600" lang="en-US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∞</a:t>
                      </a:r>
                      <a:endParaRPr dirty="0" sz="1600" lang="en-US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66"/>
                    </a:solidFill>
                  </a:tcPr>
                </a:tc>
              </a:tr>
              <a:tr h="536958"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600" lang="en-US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Visit A</a:t>
                      </a:r>
                      <a:endParaRPr dirty="0" sz="1600" lang="en-US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66"/>
                    </a:solidFill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600" lang="en-US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dirty="0" sz="1600" lang="en-US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66"/>
                    </a:solidFill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600" lang="en-US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4</a:t>
                      </a:r>
                      <a:endParaRPr dirty="0" sz="1600" lang="en-US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66"/>
                    </a:solidFill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600" lang="en-US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dirty="0" sz="1600" lang="en-US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66"/>
                    </a:solidFill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600" lang="en-US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∞</a:t>
                      </a:r>
                      <a:endParaRPr dirty="0" sz="1600" lang="en-US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66"/>
                    </a:solidFill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600" lang="en-US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∞</a:t>
                      </a:r>
                      <a:endParaRPr dirty="0" sz="1600" lang="en-US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66"/>
                    </a:solidFill>
                  </a:tcPr>
                </a:tc>
              </a:tr>
              <a:tr h="536958"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600" lang="en-US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Visit C</a:t>
                      </a:r>
                      <a:endParaRPr dirty="0" sz="1600" lang="en-US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66"/>
                    </a:solidFill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600" lang="en-US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dirty="0" sz="1600" lang="en-US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66"/>
                    </a:solidFill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600" lang="en-US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3</a:t>
                      </a:r>
                      <a:endParaRPr dirty="0" sz="1600" lang="en-US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66"/>
                    </a:solidFill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600" lang="en-US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dirty="0" sz="1600" lang="en-US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66"/>
                    </a:solidFill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600" lang="en-US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6</a:t>
                      </a:r>
                      <a:endParaRPr dirty="0" sz="1600" lang="en-US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66"/>
                    </a:solidFill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600" lang="en-US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∞</a:t>
                      </a:r>
                      <a:endParaRPr dirty="0" sz="1600" lang="en-US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66"/>
                    </a:solidFill>
                  </a:tcPr>
                </a:tc>
              </a:tr>
              <a:tr h="536958"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600" lang="en-US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Visit B</a:t>
                      </a:r>
                      <a:endParaRPr dirty="0" sz="1600" lang="en-US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66"/>
                    </a:solidFill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600" lang="en-US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dirty="0" sz="1600" lang="en-US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66"/>
                    </a:solidFill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600" lang="en-US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3</a:t>
                      </a:r>
                      <a:endParaRPr dirty="0" sz="1600" lang="en-US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66"/>
                    </a:solidFill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600" lang="en-US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dirty="0" sz="1600" lang="en-US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66"/>
                    </a:solidFill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600" lang="en-US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4</a:t>
                      </a:r>
                      <a:endParaRPr dirty="0" sz="1600" lang="en-US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66"/>
                    </a:solidFill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600" lang="en-US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10</a:t>
                      </a:r>
                      <a:endParaRPr dirty="0" sz="1600" lang="en-US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66"/>
                    </a:solidFill>
                  </a:tcPr>
                </a:tc>
              </a:tr>
              <a:tr h="536958"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600" lang="en-US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Visit D</a:t>
                      </a:r>
                      <a:endParaRPr dirty="0" sz="1600" lang="en-US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66"/>
                    </a:solidFill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600" lang="en-US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dirty="0" sz="1600" lang="en-US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66"/>
                    </a:solidFill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600" lang="en-US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3</a:t>
                      </a:r>
                      <a:endParaRPr dirty="0" sz="1600" lang="en-US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66"/>
                    </a:solidFill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600" lang="en-US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dirty="0" sz="1600" lang="en-US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66"/>
                    </a:solidFill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600" lang="en-US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4</a:t>
                      </a:r>
                      <a:endParaRPr dirty="0" sz="1600" lang="en-US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66"/>
                    </a:solidFill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600" lang="en-US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7</a:t>
                      </a:r>
                      <a:endParaRPr dirty="0" sz="1600" lang="en-US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66"/>
                    </a:solidFill>
                  </a:tcPr>
                </a:tc>
              </a:tr>
              <a:tr h="517909"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600" lang="en-US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Visit E</a:t>
                      </a:r>
                      <a:endParaRPr dirty="0" sz="1600" lang="en-US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66"/>
                    </a:solidFill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600" lang="en-US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dirty="0" sz="1600" lang="en-US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66"/>
                    </a:solidFill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600" lang="en-US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3</a:t>
                      </a:r>
                      <a:endParaRPr dirty="0" sz="1600" lang="en-US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66"/>
                    </a:solidFill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600" lang="en-US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dirty="0" sz="1600" lang="en-US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66"/>
                    </a:solidFill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600" lang="en-US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4</a:t>
                      </a:r>
                      <a:endParaRPr dirty="0" sz="1600" lang="en-US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66"/>
                    </a:solidFill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600" lang="en-US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7</a:t>
                      </a:r>
                      <a:endParaRPr dirty="0" sz="1600" lang="en-US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450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1F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1" name="Text 0"/>
          <p:cNvSpPr/>
          <p:nvPr/>
        </p:nvSpPr>
        <p:spPr>
          <a:xfrm>
            <a:off x="609585" y="609600"/>
            <a:ext cx="11582110" cy="11876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0000"/>
              </a:lnSpc>
              <a:buNone/>
            </a:pPr>
            <a:r>
              <a:rPr dirty="0" sz="800" kern="100" lang="en-US" spc="47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IMPLEMENTATION VIEW</a:t>
            </a:r>
            <a:endParaRPr dirty="0" sz="800" lang="en-US"/>
          </a:p>
        </p:txBody>
      </p:sp>
      <p:sp>
        <p:nvSpPr>
          <p:cNvPr id="1048662" name="Text 1"/>
          <p:cNvSpPr/>
          <p:nvPr/>
        </p:nvSpPr>
        <p:spPr>
          <a:xfrm>
            <a:off x="609585" y="781296"/>
            <a:ext cx="10972526" cy="245269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96000"/>
              </a:lnSpc>
              <a:buNone/>
            </a:pPr>
            <a:r>
              <a:rPr dirty="0" sz="1700" kern="100" lang="en-US" spc="-8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Dijkstra's algorithm in pseudocode</a:t>
            </a:r>
            <a:endParaRPr dirty="0" sz="1700" lang="en-US"/>
          </a:p>
        </p:txBody>
      </p:sp>
      <p:sp>
        <p:nvSpPr>
          <p:cNvPr id="1048663" name="Shape 2"/>
          <p:cNvSpPr/>
          <p:nvPr/>
        </p:nvSpPr>
        <p:spPr>
          <a:xfrm>
            <a:off x="609585" y="1126728"/>
            <a:ext cx="10972526" cy="3727053"/>
          </a:xfrm>
          <a:prstGeom prst="roundRect">
            <a:avLst>
              <a:gd name="adj" fmla="val 4089"/>
            </a:avLst>
          </a:prstGeom>
          <a:solidFill>
            <a:srgbClr val="1E1F66"/>
          </a:solidFill>
          <a:ln w="6350">
            <a:solidFill>
              <a:srgbClr val="2878FF"/>
            </a:solidFill>
            <a:prstDash val="solid"/>
          </a:ln>
          <a:effectLst>
            <a:outerShdw algn="bl" blurRad="201930" dir="16200000" dist="127" kx="0" ky="0" rotWithShape="0" sx="100000" sy="100000">
              <a:srgbClr val="2878FF">
                <a:alpha val="40000"/>
              </a:srgbClr>
            </a:outerShdw>
          </a:effectLst>
        </p:spPr>
      </p:sp>
      <p:sp>
        <p:nvSpPr>
          <p:cNvPr id="1048664" name="Shape 3"/>
          <p:cNvSpPr/>
          <p:nvPr/>
        </p:nvSpPr>
        <p:spPr>
          <a:xfrm>
            <a:off x="844529" y="1491159"/>
            <a:ext cx="10502637" cy="2998192"/>
          </a:xfrm>
          <a:prstGeom prst="roundRect">
            <a:avLst>
              <a:gd name="adj" fmla="val 2562"/>
            </a:avLst>
          </a:prstGeom>
          <a:solidFill>
            <a:srgbClr val="1E1F66"/>
          </a:solidFill>
        </p:spPr>
      </p:sp>
      <p:sp>
        <p:nvSpPr>
          <p:cNvPr id="1048665" name="Text 4"/>
          <p:cNvSpPr/>
          <p:nvPr/>
        </p:nvSpPr>
        <p:spPr>
          <a:xfrm>
            <a:off x="1063896" y="1674019"/>
            <a:ext cx="10063903" cy="2632472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33000"/>
              </a:lnSpc>
              <a:buNone/>
            </a:pPr>
            <a:r>
              <a:rPr dirty="0" sz="1450" lang="en-US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 v: dist[v] ← ∞</a:t>
            </a:r>
            <a:endParaRPr dirty="0" sz="1450" lang="en-US"/>
          </a:p>
          <a:p>
            <a:pPr algn="l" indent="0" marL="0">
              <a:lnSpc>
                <a:spcPct val="133000"/>
              </a:lnSpc>
              <a:buNone/>
            </a:pPr>
            <a:r>
              <a:rPr dirty="0" sz="1450" lang="en-US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previous[v] ← undefined</a:t>
            </a:r>
            <a:endParaRPr dirty="0" sz="1450" lang="en-US"/>
          </a:p>
          <a:p>
            <a:pPr algn="l" indent="0" marL="0">
              <a:lnSpc>
                <a:spcPct val="133000"/>
              </a:lnSpc>
              <a:buNone/>
            </a:pPr>
            <a:r>
              <a:rPr dirty="0" sz="1450" lang="en-US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dist[source] ← 0; Q ← all vertices in min-priority queue</a:t>
            </a:r>
            <a:endParaRPr dirty="0" sz="1450" lang="en-US"/>
          </a:p>
          <a:p>
            <a:pPr algn="l" indent="0" marL="0">
              <a:lnSpc>
                <a:spcPct val="133000"/>
              </a:lnSpc>
              <a:buNone/>
            </a:pPr>
            <a:r>
              <a:rPr dirty="0" sz="1450" lang="en-US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Q not empty: u ← extract-min(Q)</a:t>
            </a:r>
            <a:endParaRPr dirty="0" sz="1450" lang="en-US"/>
          </a:p>
          <a:p>
            <a:pPr algn="l" indent="0" marL="0">
              <a:lnSpc>
                <a:spcPct val="133000"/>
              </a:lnSpc>
              <a:buNone/>
            </a:pPr>
            <a:r>
              <a:rPr dirty="0" sz="1450" lang="en-US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each neighbour v of u:</a:t>
            </a:r>
            <a:endParaRPr dirty="0" sz="1450" lang="en-US"/>
          </a:p>
          <a:p>
            <a:pPr algn="l" indent="0" marL="0">
              <a:lnSpc>
                <a:spcPct val="133000"/>
              </a:lnSpc>
              <a:buNone/>
            </a:pPr>
            <a:r>
              <a:rPr dirty="0" sz="1450" lang="en-US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alt ← dist[u] + weight(u,v)</a:t>
            </a:r>
            <a:endParaRPr dirty="0" sz="1450" lang="en-US"/>
          </a:p>
          <a:p>
            <a:pPr algn="l" indent="0" marL="0">
              <a:lnSpc>
                <a:spcPct val="133000"/>
              </a:lnSpc>
              <a:buNone/>
            </a:pPr>
            <a:r>
              <a:rPr dirty="0" sz="1450" lang="en-US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alt &lt; dist[v]:</a:t>
            </a:r>
            <a:endParaRPr dirty="0" sz="1450" lang="en-US"/>
          </a:p>
          <a:p>
            <a:pPr algn="l" indent="0" marL="0">
              <a:lnSpc>
                <a:spcPct val="133000"/>
              </a:lnSpc>
              <a:buNone/>
            </a:pPr>
            <a:r>
              <a:rPr dirty="0" sz="1450" lang="en-US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dist[v] ← alt; previous[v] ← u</a:t>
            </a:r>
            <a:endParaRPr dirty="0" sz="1450" lang="en-US"/>
          </a:p>
          <a:p>
            <a:pPr algn="l" indent="0" marL="0">
              <a:lnSpc>
                <a:spcPct val="133000"/>
              </a:lnSpc>
              <a:buNone/>
            </a:pPr>
            <a:r>
              <a:rPr dirty="0" sz="1450" lang="en-US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decrease-key(Q,v,alt)</a:t>
            </a:r>
            <a:endParaRPr dirty="0" sz="1450" lang="en-US"/>
          </a:p>
        </p:txBody>
      </p:sp>
      <p:sp>
        <p:nvSpPr>
          <p:cNvPr id="1048666" name="Text 5"/>
          <p:cNvSpPr/>
          <p:nvPr/>
        </p:nvSpPr>
        <p:spPr>
          <a:xfrm>
            <a:off x="609585" y="5400821"/>
            <a:ext cx="10972526" cy="19744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90000"/>
              </a:lnSpc>
              <a:buNone/>
            </a:pPr>
            <a:r>
              <a:rPr dirty="0" sz="1450" lang="en-US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Initialize once; then repeat one loop:</a:t>
            </a:r>
            <a:endParaRPr dirty="0" sz="1450" lang="en-US"/>
          </a:p>
        </p:txBody>
      </p:sp>
      <p:sp>
        <p:nvSpPr>
          <p:cNvPr id="1048667" name="Shape 6"/>
          <p:cNvSpPr/>
          <p:nvPr/>
        </p:nvSpPr>
        <p:spPr>
          <a:xfrm>
            <a:off x="609585" y="5648623"/>
            <a:ext cx="1886597" cy="285155"/>
          </a:xfrm>
          <a:prstGeom prst="roundRect">
            <a:avLst>
              <a:gd name="adj" fmla="val 21548"/>
            </a:avLst>
          </a:prstGeom>
          <a:solidFill>
            <a:srgbClr val="001C4D"/>
          </a:solidFill>
        </p:spPr>
      </p:sp>
      <p:sp>
        <p:nvSpPr>
          <p:cNvPr id="1048668" name="Text 7"/>
          <p:cNvSpPr/>
          <p:nvPr/>
        </p:nvSpPr>
        <p:spPr>
          <a:xfrm>
            <a:off x="719219" y="5703391"/>
            <a:ext cx="2276914" cy="175617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0000"/>
              </a:lnSpc>
              <a:buNone/>
            </a:pPr>
            <a:r>
              <a:rPr dirty="0" sz="1150" kern="100" lang="en-US" spc="69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EXTRACT MINIMUM</a:t>
            </a:r>
            <a:endParaRPr dirty="0" sz="1150" lang="en-US"/>
          </a:p>
        </p:txBody>
      </p:sp>
      <p:sp>
        <p:nvSpPr>
          <p:cNvPr id="1048669" name="Shape 8"/>
          <p:cNvSpPr/>
          <p:nvPr/>
        </p:nvSpPr>
        <p:spPr>
          <a:xfrm>
            <a:off x="2587560" y="5648623"/>
            <a:ext cx="1997720" cy="285155"/>
          </a:xfrm>
          <a:prstGeom prst="roundRect">
            <a:avLst>
              <a:gd name="adj" fmla="val 21548"/>
            </a:avLst>
          </a:prstGeom>
          <a:noFill/>
          <a:ln w="6350">
            <a:solidFill>
              <a:srgbClr val="27E0E3"/>
            </a:solidFill>
            <a:prstDash val="solid"/>
          </a:ln>
        </p:spPr>
      </p:sp>
      <p:sp>
        <p:nvSpPr>
          <p:cNvPr id="1048670" name="Text 9"/>
          <p:cNvSpPr/>
          <p:nvPr/>
        </p:nvSpPr>
        <p:spPr>
          <a:xfrm>
            <a:off x="2697194" y="5703391"/>
            <a:ext cx="2388036" cy="175617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0000"/>
              </a:lnSpc>
              <a:buNone/>
            </a:pPr>
            <a:r>
              <a:rPr dirty="0" sz="1150" kern="100" lang="en-US" spc="69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RELAX NEIGHBOURS</a:t>
            </a:r>
            <a:endParaRPr dirty="0" sz="1150" lang="en-US"/>
          </a:p>
        </p:txBody>
      </p:sp>
      <p:sp>
        <p:nvSpPr>
          <p:cNvPr id="1048671" name="Text 10"/>
          <p:cNvSpPr/>
          <p:nvPr/>
        </p:nvSpPr>
        <p:spPr>
          <a:xfrm>
            <a:off x="4676658" y="5703391"/>
            <a:ext cx="1943448" cy="175617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0000"/>
              </a:lnSpc>
              <a:buNone/>
            </a:pPr>
            <a:r>
              <a:rPr dirty="0" sz="1150" kern="100" lang="en-US" spc="69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UPDATE QUEUE</a:t>
            </a:r>
            <a:endParaRPr dirty="0" sz="1150" lang="en-US"/>
          </a:p>
        </p:txBody>
      </p:sp>
      <p:sp>
        <p:nvSpPr>
          <p:cNvPr id="1048672" name="Text 11"/>
          <p:cNvSpPr/>
          <p:nvPr/>
        </p:nvSpPr>
        <p:spPr>
          <a:xfrm>
            <a:off x="609585" y="6001202"/>
            <a:ext cx="10972526" cy="138609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8000"/>
              </a:lnSpc>
              <a:buNone/>
            </a:pPr>
            <a:r>
              <a:rPr dirty="0" sz="850" kern="100" lang="en-US" spc="8">
                <a:solidFill>
                  <a:srgbClr val="B9BEE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The </a:t>
            </a:r>
            <a:r>
              <a:rPr b="1" dirty="0" sz="850" kern="100" lang="en-US" spc="8">
                <a:solidFill>
                  <a:srgbClr val="B9BEEA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previous</a:t>
            </a:r>
            <a:r>
              <a:rPr dirty="0" sz="850" kern="100" lang="en-US" spc="8">
                <a:solidFill>
                  <a:srgbClr val="B9BEE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array reconstructs the actual shortest path, not only its distance.</a:t>
            </a:r>
            <a:endParaRPr dirty="0" sz="850"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6" name="Text 0"/>
          <p:cNvSpPr/>
          <p:nvPr/>
        </p:nvSpPr>
        <p:spPr>
          <a:xfrm>
            <a:off x="609585" y="626745"/>
            <a:ext cx="11582110" cy="198041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0000"/>
              </a:lnSpc>
              <a:buNone/>
            </a:pPr>
            <a:r>
              <a:rPr dirty="0" sz="1300" kern="100" lang="en-US" spc="78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EFFICIENCY</a:t>
            </a:r>
            <a:endParaRPr dirty="0" sz="1300" lang="en-US"/>
          </a:p>
        </p:txBody>
      </p:sp>
      <p:sp>
        <p:nvSpPr>
          <p:cNvPr id="1048677" name="Text 1"/>
          <p:cNvSpPr/>
          <p:nvPr/>
        </p:nvSpPr>
        <p:spPr>
          <a:xfrm>
            <a:off x="609585" y="946375"/>
            <a:ext cx="10972526" cy="40888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96000"/>
              </a:lnSpc>
              <a:buNone/>
            </a:pPr>
            <a:r>
              <a:rPr dirty="0" sz="2800" kern="100" lang="en-US" spc="-14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Time and space complexity</a:t>
            </a:r>
            <a:endParaRPr dirty="0" sz="2800" lang="en-US"/>
          </a:p>
        </p:txBody>
      </p:sp>
      <p:sp>
        <p:nvSpPr>
          <p:cNvPr id="1048678" name="Text 2"/>
          <p:cNvSpPr/>
          <p:nvPr/>
        </p:nvSpPr>
        <p:spPr>
          <a:xfrm>
            <a:off x="609585" y="1653401"/>
            <a:ext cx="11582110" cy="41146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13000"/>
              </a:lnSpc>
              <a:buNone/>
            </a:pPr>
            <a:r>
              <a:rPr dirty="0" sz="2400" lang="en-US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The next-node data structure changes the running time.</a:t>
            </a:r>
            <a:endParaRPr dirty="0" sz="2400" lang="en-US"/>
          </a:p>
        </p:txBody>
      </p:sp>
      <p:graphicFrame>
        <p:nvGraphicFramePr>
          <p:cNvPr id="4194305" name="Table 0"/>
          <p:cNvGraphicFramePr>
            <a:graphicFrameLocks noGrp="1"/>
          </p:cNvGraphicFramePr>
          <p:nvPr/>
        </p:nvGraphicFramePr>
        <p:xfrm>
          <a:off x="609585" y="2326481"/>
          <a:ext cx="10972526" cy="914400"/>
        </p:xfrm>
        <a:graphic>
          <a:graphicData uri="http://schemas.openxmlformats.org/drawingml/2006/table">
            <a:tbl>
              <a:tblPr/>
              <a:tblGrid>
                <a:gridCol w="2962499"/>
                <a:gridCol w="2413932"/>
                <a:gridCol w="1865266"/>
                <a:gridCol w="3730829"/>
              </a:tblGrid>
              <a:tr h="571287"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800" lang="en-US">
                          <a:solidFill>
                            <a:srgbClr val="FFFF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Implementation</a:t>
                      </a:r>
                      <a:endParaRPr dirty="0" sz="1800" lang="en-US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800" lang="en-US">
                          <a:solidFill>
                            <a:srgbClr val="FFFF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Time</a:t>
                      </a:r>
                      <a:endParaRPr dirty="0" sz="1800" lang="en-US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800" lang="en-US">
                          <a:solidFill>
                            <a:srgbClr val="FFFF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Space</a:t>
                      </a:r>
                      <a:endParaRPr dirty="0" sz="1800" lang="en-US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800" lang="en-US">
                          <a:solidFill>
                            <a:srgbClr val="FFFF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Typical use</a:t>
                      </a:r>
                      <a:endParaRPr dirty="0" sz="1800" lang="en-US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287"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800" lang="en-US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Array</a:t>
                      </a:r>
                      <a:endParaRPr dirty="0" sz="1800" lang="en-US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800" lang="en-US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O(V²)</a:t>
                      </a:r>
                      <a:endParaRPr dirty="0" sz="1800" lang="en-US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800" lang="en-US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O(V)</a:t>
                      </a:r>
                      <a:endParaRPr dirty="0" sz="1800" lang="en-US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800" lang="en-US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Small or dense graphs</a:t>
                      </a:r>
                      <a:endParaRPr dirty="0" sz="1800" lang="en-US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0800"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800" lang="en-US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Min-heap / priority queue</a:t>
                      </a:r>
                      <a:endParaRPr dirty="0" sz="1800" lang="en-US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800" lang="en-US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O((V + E) log V)</a:t>
                      </a:r>
                      <a:endParaRPr dirty="0" sz="1800" lang="en-US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800" lang="en-US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O(V)</a:t>
                      </a:r>
                      <a:endParaRPr dirty="0" sz="1800" lang="en-US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800" lang="en-US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Large sparse graphs</a:t>
                      </a:r>
                      <a:endParaRPr dirty="0" sz="1800" lang="en-US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48679" name="Text 3"/>
          <p:cNvSpPr/>
          <p:nvPr/>
        </p:nvSpPr>
        <p:spPr>
          <a:xfrm>
            <a:off x="609585" y="4602956"/>
            <a:ext cx="10972526" cy="1198761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ct val="113000"/>
              </a:lnSpc>
              <a:spcAft>
                <a:spcPts val="2100"/>
              </a:spcAft>
              <a:buNone/>
            </a:pPr>
            <a:r>
              <a:rPr b="1" dirty="0" sz="1800" lang="en-US">
                <a:solidFill>
                  <a:srgbClr val="E6E9FF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Notation</a:t>
            </a:r>
            <a:r>
              <a:rPr dirty="0" sz="1800" lang="en-US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— </a:t>
            </a:r>
            <a:r>
              <a:rPr b="1" dirty="0" sz="1800" lang="en-US">
                <a:solidFill>
                  <a:srgbClr val="E6E9FF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V</a:t>
            </a:r>
            <a:r>
              <a:rPr dirty="0" sz="1800" lang="en-US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= number of vertices · </a:t>
            </a:r>
            <a:r>
              <a:rPr b="1" dirty="0" sz="1800" lang="en-US">
                <a:solidFill>
                  <a:srgbClr val="E6E9FF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E</a:t>
            </a:r>
            <a:r>
              <a:rPr dirty="0" sz="1800" lang="en-US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= number of edges</a:t>
            </a:r>
            <a:endParaRPr dirty="0" sz="1800" lang="en-US"/>
          </a:p>
          <a:p>
            <a:pPr algn="l" indent="0" marL="0">
              <a:lnSpc>
                <a:spcPct val="113000"/>
              </a:lnSpc>
              <a:buNone/>
            </a:pPr>
            <a:r>
              <a:rPr b="1" dirty="0" sz="1800" lang="en-US">
                <a:solidFill>
                  <a:srgbClr val="E6E9FF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Practical reading</a:t>
            </a:r>
            <a:r>
              <a:rPr dirty="0" sz="1800" lang="en-US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— For large sparse graphs, the priority queue avoids repeatedly scanning every vertex.</a:t>
            </a:r>
            <a:endParaRPr dirty="0" sz="1800"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3" name="Text 0"/>
          <p:cNvSpPr/>
          <p:nvPr/>
        </p:nvSpPr>
        <p:spPr>
          <a:xfrm>
            <a:off x="609585" y="626745"/>
            <a:ext cx="11582110" cy="198041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0000"/>
              </a:lnSpc>
              <a:buNone/>
            </a:pPr>
            <a:r>
              <a:rPr dirty="0" sz="1300" kern="100" lang="en-US" spc="78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FINAL CHECK</a:t>
            </a:r>
            <a:endParaRPr dirty="0" sz="1300" lang="en-US"/>
          </a:p>
        </p:txBody>
      </p:sp>
      <p:sp>
        <p:nvSpPr>
          <p:cNvPr id="1048684" name="Text 1"/>
          <p:cNvSpPr/>
          <p:nvPr/>
        </p:nvSpPr>
        <p:spPr>
          <a:xfrm>
            <a:off x="609585" y="946375"/>
            <a:ext cx="10972526" cy="40888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96000"/>
              </a:lnSpc>
              <a:buNone/>
            </a:pPr>
            <a:r>
              <a:rPr dirty="0" sz="2800" kern="100" lang="en-US" spc="-14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Limitations and three takeaways</a:t>
            </a:r>
            <a:endParaRPr dirty="0" sz="2800" lang="en-US"/>
          </a:p>
        </p:txBody>
      </p:sp>
      <p:sp>
        <p:nvSpPr>
          <p:cNvPr id="1048685" name="Shape 2"/>
          <p:cNvSpPr/>
          <p:nvPr/>
        </p:nvSpPr>
        <p:spPr>
          <a:xfrm>
            <a:off x="609585" y="1641971"/>
            <a:ext cx="3555911" cy="4102298"/>
          </a:xfrm>
          <a:prstGeom prst="roundRect">
            <a:avLst>
              <a:gd name="adj" fmla="val 4286"/>
            </a:avLst>
          </a:prstGeom>
          <a:solidFill>
            <a:srgbClr val="1E1F66"/>
          </a:solidFill>
          <a:ln w="19050">
            <a:solidFill>
              <a:srgbClr val="FF9347"/>
            </a:solidFill>
            <a:prstDash val="solid"/>
          </a:ln>
          <a:effectLst>
            <a:outerShdw algn="bl" blurRad="201930" dir="16200000" dist="127" kx="0" ky="0" rotWithShape="0" sx="100000" sy="100000">
              <a:srgbClr val="FF9347">
                <a:alpha val="30000"/>
              </a:srgbClr>
            </a:outerShdw>
          </a:effectLst>
        </p:spPr>
      </p:sp>
      <p:sp>
        <p:nvSpPr>
          <p:cNvPr id="1048686" name="Text 3"/>
          <p:cNvSpPr/>
          <p:nvPr/>
        </p:nvSpPr>
        <p:spPr>
          <a:xfrm>
            <a:off x="882628" y="1779766"/>
            <a:ext cx="3282868" cy="198041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0000"/>
              </a:lnSpc>
              <a:buNone/>
            </a:pPr>
            <a:r>
              <a:rPr dirty="0" sz="1300" kern="100" lang="en-US" spc="78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LIMITATION</a:t>
            </a:r>
            <a:endParaRPr dirty="0" sz="1300" lang="en-US"/>
          </a:p>
        </p:txBody>
      </p:sp>
      <p:sp>
        <p:nvSpPr>
          <p:cNvPr id="1048687" name="Text 4"/>
          <p:cNvSpPr/>
          <p:nvPr/>
        </p:nvSpPr>
        <p:spPr>
          <a:xfrm>
            <a:off x="882628" y="2099727"/>
            <a:ext cx="3009825" cy="39618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8000"/>
              </a:lnSpc>
              <a:buNone/>
            </a:pPr>
            <a:r>
              <a:rPr dirty="0" sz="2400" kern="100" lang="en-US" spc="-12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No negative edges</a:t>
            </a:r>
            <a:endParaRPr dirty="0" sz="2400" lang="en-US"/>
          </a:p>
        </p:txBody>
      </p:sp>
      <p:sp>
        <p:nvSpPr>
          <p:cNvPr id="1048688" name="Text 5"/>
          <p:cNvSpPr/>
          <p:nvPr/>
        </p:nvSpPr>
        <p:spPr>
          <a:xfrm>
            <a:off x="882628" y="2699742"/>
            <a:ext cx="3009825" cy="2029222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ct val="113000"/>
              </a:lnSpc>
              <a:spcAft>
                <a:spcPts val="1350"/>
              </a:spcAft>
              <a:buNone/>
            </a:pPr>
            <a:r>
              <a:rPr dirty="0" sz="1800" lang="en-US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Dijkstra's algorithm does not work with negative edge weights.</a:t>
            </a:r>
            <a:endParaRPr dirty="0" sz="1800" lang="en-US"/>
          </a:p>
          <a:p>
            <a:pPr algn="l" indent="0" marL="0">
              <a:lnSpc>
                <a:spcPct val="113000"/>
              </a:lnSpc>
              <a:buNone/>
            </a:pPr>
            <a:r>
              <a:rPr dirty="0" sz="1800" lang="en-US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Use Bellman-Ford when negative weights are possible.</a:t>
            </a:r>
            <a:endParaRPr dirty="0" sz="1800" lang="en-US"/>
          </a:p>
        </p:txBody>
      </p:sp>
      <p:sp>
        <p:nvSpPr>
          <p:cNvPr id="1048689" name="Text 6"/>
          <p:cNvSpPr/>
          <p:nvPr/>
        </p:nvSpPr>
        <p:spPr>
          <a:xfrm>
            <a:off x="4470288" y="1885811"/>
            <a:ext cx="7111822" cy="39618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8000"/>
              </a:lnSpc>
              <a:buNone/>
            </a:pPr>
            <a:r>
              <a:rPr dirty="0" sz="2400" kern="100" lang="en-US" spc="-12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Three takeaways</a:t>
            </a:r>
            <a:endParaRPr dirty="0" sz="2400" lang="en-US"/>
          </a:p>
        </p:txBody>
      </p:sp>
      <p:sp>
        <p:nvSpPr>
          <p:cNvPr id="1048690" name="Text 7"/>
          <p:cNvSpPr/>
          <p:nvPr/>
        </p:nvSpPr>
        <p:spPr>
          <a:xfrm>
            <a:off x="4470288" y="2485827"/>
            <a:ext cx="7111822" cy="2209701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-487680" marL="487680">
              <a:lnSpc>
                <a:spcPct val="113000"/>
              </a:lnSpc>
              <a:buSzPct val="100000"/>
              <a:buFont typeface="+mj-lt"/>
              <a:buAutoNum type="arabicPeriod" startAt="1"/>
            </a:pPr>
            <a:r>
              <a:rPr b="1" dirty="0" sz="2400" lang="en-US">
                <a:solidFill>
                  <a:srgbClr val="E6E9FF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Greedy choice:</a:t>
            </a:r>
            <a:r>
              <a:rPr dirty="0" sz="2400" lang="en-US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Finalize the nearest unvisited node.</a:t>
            </a:r>
            <a:endParaRPr dirty="0" sz="2400" lang="en-US"/>
          </a:p>
          <a:p>
            <a:pPr algn="l" indent="-487680" marL="487680">
              <a:lnSpc>
                <a:spcPct val="113000"/>
              </a:lnSpc>
              <a:buSzPct val="100000"/>
              <a:buFont typeface="+mj-lt"/>
              <a:buAutoNum type="arabicPeriod" startAt="2"/>
            </a:pPr>
            <a:r>
              <a:rPr b="1" dirty="0" sz="2400" lang="en-US">
                <a:solidFill>
                  <a:srgbClr val="E6E9FF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Relaxation:</a:t>
            </a:r>
            <a:r>
              <a:rPr dirty="0" sz="2400" lang="en-US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Gradually improve neighbour distances.</a:t>
            </a:r>
            <a:endParaRPr dirty="0" sz="2400" lang="en-US"/>
          </a:p>
          <a:p>
            <a:pPr algn="l" indent="-487680" marL="487680">
              <a:lnSpc>
                <a:spcPct val="113000"/>
              </a:lnSpc>
              <a:buSzPct val="100000"/>
              <a:buFont typeface="+mj-lt"/>
              <a:buAutoNum type="arabicPeriod" startAt="3"/>
            </a:pPr>
            <a:r>
              <a:rPr b="1" dirty="0" sz="2400" lang="en-US">
                <a:solidFill>
                  <a:srgbClr val="E6E9FF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Priority queue:</a:t>
            </a:r>
            <a:r>
              <a:rPr dirty="0" sz="2400" lang="en-US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Make large graphs faster.</a:t>
            </a:r>
            <a:endParaRPr dirty="0" sz="2400" lang="en-US"/>
          </a:p>
        </p:txBody>
      </p:sp>
      <p:sp>
        <p:nvSpPr>
          <p:cNvPr id="1048691" name="Text 8"/>
          <p:cNvSpPr/>
          <p:nvPr/>
        </p:nvSpPr>
        <p:spPr>
          <a:xfrm>
            <a:off x="609585" y="6026209"/>
            <a:ext cx="11582110" cy="23108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ct val="108000"/>
              </a:lnSpc>
              <a:buNone/>
            </a:pPr>
            <a:r>
              <a:rPr dirty="0" sz="1400" kern="100" lang="en-US" spc="14">
                <a:solidFill>
                  <a:srgbClr val="B9BEE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Generated using [Gamma]</a:t>
            </a:r>
            <a:endParaRPr dirty="0" sz="1400"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CPH2723</dc:creator>
  <dcterms:created xsi:type="dcterms:W3CDTF">2026-10-17T19:46:03Z</dcterms:created>
  <dcterms:modified xsi:type="dcterms:W3CDTF">2026-10-19T17:32:41Z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f610f612ee0f48b586d1193df3754194_23</vt:lpwstr>
  </property>
</Properties>
</file>